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9" r:id="rId11"/>
    <p:sldId id="264" r:id="rId12"/>
    <p:sldId id="265" r:id="rId13"/>
    <p:sldId id="266" r:id="rId14"/>
    <p:sldId id="267" r:id="rId15"/>
    <p:sldId id="270" r:id="rId16"/>
    <p:sldId id="271" r:id="rId17"/>
    <p:sldId id="272" r:id="rId18"/>
    <p:sldId id="275" r:id="rId19"/>
    <p:sldId id="276" r:id="rId20"/>
    <p:sldId id="268" r:id="rId21"/>
    <p:sldId id="279" r:id="rId22"/>
    <p:sldId id="278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D6EB0E-B058-4695-8E46-4F3B8BFB6701}" v="6" dt="2026-05-05T06:40:39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90" d="100"/>
          <a:sy n="90" d="100"/>
        </p:scale>
        <p:origin x="2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75F25E-1ED5-4F38-BA18-62C72B61EB2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042F5-8A5A-4AC7-ACF9-8533D1A49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99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042F5-8A5A-4AC7-ACF9-8533D1A49E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84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042F5-8A5A-4AC7-ACF9-8533D1A49E3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43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2C9E-EFC1-42F1-6CC1-CB6E5CB78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2B633-8804-B67E-B497-6CD83FA2E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081B8-4077-B066-0693-6A3F62DCF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F0C6-DEB8-44F0-B276-6A7245BA6790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4A1FD-263B-8F33-612F-B1AE88AB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8B1FB-DC69-72F2-2081-4DC8A8ED5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97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D02AB-FC29-4833-D863-DC3EA212C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B4E68-3A83-D705-427F-A1EC27E40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9C751-D973-E057-B634-CEB7F6E0A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386E-A7C0-4FBD-90A9-1BB72F703E0D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02872-E0D5-2399-6779-A1B3A86FB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E9A55-B7DD-4F2E-F7FB-DF43D7EF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2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F3EE-AC0D-0426-82C1-6BE7F8997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653AD-B499-73A4-7BB4-00EA8CA0B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AACC5-B370-B863-9BAF-D55BCC271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CC52E-F9B1-4F08-B5A3-1A50AE3C285B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E2320-8540-6E8A-7BC6-DF365A19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13FDA-58F7-8A17-78F2-42A42D105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1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7DECC-D29F-DBB1-6436-9094D82B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79F03-2C0C-E178-9BA0-C19FDAD75B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F0C64-8486-D971-8B74-8BA8E1EC8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AE6B8-8A86-285A-6D31-FE5E54175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FAED-FD14-41B4-A72B-078696A3988B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74F81-29EC-8977-C13D-0DF1AFF1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93683-DD83-96C9-06F1-EC1EA390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0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F5544-0886-9922-356B-ABA1AA25A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86356-8EC7-A0F4-2CAE-F5811F8BE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CB8D1-61CE-0BCC-EF9E-4DBB01B93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336541-39C6-501B-2030-BC34E1FC4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10D794-E065-EFE8-ABC3-557F8B1F1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369811-1051-5571-72E9-5BD6D753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48A7-A90D-4691-B80B-92411543F8B7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E98824-E8AD-2E6C-9301-6DC3DBC9C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2B56D4-0D0E-6CA5-3B25-32817C3BB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13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88E-F3B4-E865-04DC-CD52FF8B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2EE12-3BA1-F2CF-5F94-E6898C97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E6C4-2A18-4676-B2EC-1C144C5A24D5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04D2E-C9C4-3234-EA7E-DF17E4C2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25C91-B6BC-AEC0-923B-DE0D42BCD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04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83299A-D8B7-7361-86F8-095049B8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BD35-08EA-497A-8A28-D0BBC72CE8A3}" type="datetime1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C84218-3900-1AEA-76C1-C040D805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1DB20-0DDC-749C-1361-D1376455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4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E29F4-2408-8126-8D9E-0E958D2B0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094B0-2668-B7A2-D567-2004EBFFF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B421A-4A47-2724-7BFC-0A4C4F345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BE9B2-8176-5442-C2FF-8E45C415B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2E6D-3D69-4843-8E4F-D5970E37B357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E5863-DAEA-FAF7-09DE-9EC1874B4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B1590-BB59-B186-2B2F-005CBC41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93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4B13B-CB80-24CF-E57F-BCBC3100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63CD45-F89F-1C28-CBF2-67DE201B5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F6AA0-CE44-491F-BF8D-36693618D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68F27-8FA0-A313-DF2E-4691FDF9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CB1D1-3BE5-46A5-B9DC-662C74A50F1D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F6258-352A-6F65-9FCE-8CB810FD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D98BD-94D1-9117-B609-0C603FACB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02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6EA96-40CB-CB63-4A40-FC833A315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CE22A-61C9-699A-369D-7332CDE61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8B35B-7B3A-D7E1-0E44-49411133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933D5-BAE1-48ED-9FFB-250411A1BEBC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14973-077F-EE30-2E25-621514AF6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FB88A-CEE9-BEB5-3569-F07C36B10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9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F77334-5C67-A9A7-3E22-539E20881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BF86C-2974-009C-C6C0-7DA1091D5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B2DA9-433B-D96A-8092-96D0C1A7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16083-119A-4E08-BDD3-62499BD9E2C7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23B32-D89F-FC6E-9830-02BACCC7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9C835-723A-8A6C-075D-7B860AE21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19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0C4DDC-C531-962B-3F3A-523F4D6E8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85E6D-5871-E3EC-D2BF-05C6691B3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08443-5ADA-467B-3008-2455A5351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64FC51-E710-454B-AB35-80450BCDD32B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80F67-8157-6787-B5A3-CF4A1B7F0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6E476-B086-C703-A4BB-509D1AE5C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54A5E-28FD-4666-B5FF-6E08C0562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89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doi.org/10.22214/ijraset.2023.54653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s://arxiv.org/abs/2010.08866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mecs-press.org/ijem/ijem-v13-n5/v13n5-1" TargetMode="External"/><Relationship Id="rId5" Type="http://schemas.openxmlformats.org/officeDocument/2006/relationships/hyperlink" Target="https://doi.org/10.21831/elinvo.v6i1.43799" TargetMode="External"/><Relationship Id="rId4" Type="http://schemas.openxmlformats.org/officeDocument/2006/relationships/hyperlink" Target="https://doi.org/10.14569/IJACSA.2022.0130515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EDDE7-C2FB-B60F-6017-ABCA5E02C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47776"/>
            <a:ext cx="12192000" cy="414730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Smart Healthcare Monitoring and Emergency Response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using Embedded System</a:t>
            </a:r>
            <a:b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E7390-C3FF-9C88-4E7A-2287B997DC90}"/>
              </a:ext>
            </a:extLst>
          </p:cNvPr>
          <p:cNvSpPr txBox="1"/>
          <p:nvPr/>
        </p:nvSpPr>
        <p:spPr>
          <a:xfrm>
            <a:off x="722831" y="4071751"/>
            <a:ext cx="3450688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Chirag Sindhe-22BBTEC017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Niranjan-22BBTEC022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Venugopal Reddy-22BBTEC023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Vijay Kumar G-22BBTEC064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C41B8-5034-4228-46BA-E5AE57AAB1D0}"/>
              </a:ext>
            </a:extLst>
          </p:cNvPr>
          <p:cNvSpPr txBox="1"/>
          <p:nvPr/>
        </p:nvSpPr>
        <p:spPr>
          <a:xfrm>
            <a:off x="8610600" y="4718081"/>
            <a:ext cx="4050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Amrita Singh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ECE, SOET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AC7F63-2232-B349-C0FD-3929FFCC5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21CB1D-6BF3-8EF2-879B-248AB85A6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05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5E95B-90E0-1007-E59A-A2A6476C6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7948"/>
            <a:ext cx="12192000" cy="98996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Contents</a:t>
            </a:r>
            <a:endParaRPr lang="en-US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D87E02-3780-2744-4F20-608AB4D0F27F}"/>
              </a:ext>
            </a:extLst>
          </p:cNvPr>
          <p:cNvSpPr txBox="1"/>
          <p:nvPr/>
        </p:nvSpPr>
        <p:spPr>
          <a:xfrm>
            <a:off x="400394" y="1674674"/>
            <a:ext cx="79929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Literature Survey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Methodology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Work Timeline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Facilities (Software and Hardware)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Outcomes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Applications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Objectives achieved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95B59-538B-6D78-711C-FE710716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B2E72E-B0CC-277F-62D7-6772D57E7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ABEBB8-435F-7FE4-1A50-0BE1275B9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13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CE11-88C1-E2EE-2AD5-4D5BC9A99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9902" y="705902"/>
            <a:ext cx="12192000" cy="920576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Introduction</a:t>
            </a: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8CB5BF-390D-1514-C54B-6877B2B4AB5B}"/>
              </a:ext>
            </a:extLst>
          </p:cNvPr>
          <p:cNvSpPr txBox="1"/>
          <p:nvPr/>
        </p:nvSpPr>
        <p:spPr>
          <a:xfrm>
            <a:off x="341194" y="1638300"/>
            <a:ext cx="114368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Continuous monitoring of patients is essential in hospitals to ensure timely medical care and avoid delays in treatment.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However, traditional monitoring systems are costly, wired, and restrict patient movement, making them less convenient.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To overcome this, our system uses sensors to collect vital health data such as heart rate, SpO₂, and body temperature in real time.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 collected data is processed and sent for monitoring, and in case of abnormal conditions, alert messages are generated.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This approach helps in faster medical response, improves patient safety, and supports modern smart healthcare systems.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693718-61AD-0E1A-5915-317A24D81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D68781-F770-00A4-AE05-E7F47939B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59F725-F66D-82B8-354B-CE8617488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869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F55B7-57E0-F3E6-EF26-4FC3DBCDC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218" y="700723"/>
            <a:ext cx="12192000" cy="989965"/>
          </a:xfrm>
        </p:spPr>
        <p:txBody>
          <a:bodyPr>
            <a:noAutofit/>
          </a:bodyPr>
          <a:lstStyle/>
          <a:p>
            <a:pPr algn="ctr"/>
            <a:r>
              <a:rPr lang="en-US" sz="3500" b="1" dirty="0"/>
              <a:t>Motivation</a:t>
            </a:r>
            <a:endParaRPr lang="en-US" sz="3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750F8-C650-1BAC-EAAD-4D3AC05E2E85}"/>
              </a:ext>
            </a:extLst>
          </p:cNvPr>
          <p:cNvSpPr txBox="1"/>
          <p:nvPr/>
        </p:nvSpPr>
        <p:spPr>
          <a:xfrm>
            <a:off x="354842" y="1690688"/>
            <a:ext cx="113958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Hospitals require continuous monitoring of patients, but existing wired systems are costly and restrict movement.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Manual monitoring can delay the detection of health issues, which may increase risk during emergencies.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Many current systems depend on continuous internet connectivity, which is not always reliable.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There is a need for a low-cost, portable, and automated system to monitor vital signs in real time.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Such a system can improve patient safety and help healthcare staff respond quickly to critical conditions.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EBB86-E4F5-E19C-6F49-1EF89AEB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E2A534-5A78-5A8A-AF85-E011ED409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11FC48-5ACF-5D41-2CE5-A249F05333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333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61E1-48EE-DED6-0069-8B7BB792D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9882" y="909990"/>
            <a:ext cx="12192000" cy="989965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/>
              <a:t>Problem statement </a:t>
            </a:r>
            <a:endParaRPr lang="en-US" sz="3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0027B-E3E2-5C6E-1FED-234BA2FE2B11}"/>
              </a:ext>
            </a:extLst>
          </p:cNvPr>
          <p:cNvSpPr txBox="1"/>
          <p:nvPr/>
        </p:nvSpPr>
        <p:spPr>
          <a:xfrm>
            <a:off x="398060" y="1690688"/>
            <a:ext cx="113253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Many patients in hospitals require continuous monitoring, but current systems rely heavily on manual supervision.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Traditional monitoring systems are wired, which restricts patient movement and causes inconvenience.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These systems are expensive and difficult to maintain, especially in large hospitals.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Delays in detecting abnormal conditions can lead to slow emergency response and increased risk.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There is a need for a low-cost, wireless, and automated system that can monitor vital signs in real time and send instant alerts.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619D8-4300-27A7-02BC-EA4CAAE7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7C9A7F-E13C-282C-6933-935F9D97B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66A980-FC55-C486-A4D6-F1B83E41B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90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97AE-83C8-0824-D009-4F3B1AE3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6" y="866371"/>
            <a:ext cx="12202993" cy="977891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/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980F0-639F-C9C9-BB9C-C7610478CE95}"/>
              </a:ext>
            </a:extLst>
          </p:cNvPr>
          <p:cNvSpPr txBox="1"/>
          <p:nvPr/>
        </p:nvSpPr>
        <p:spPr>
          <a:xfrm>
            <a:off x="313899" y="1690688"/>
            <a:ext cx="114663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Design a wireless healthcare monitoring system using ESP32 and wearable sensors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Measure vital parameters such as heart rate, SpO₂, and body temperature in real time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To process sensor data and detect abnormal conditions using threshold-based analysis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Send instant emergency alerts using GSM communication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Develop a low-cost, portable, and energy-efficient system suitable for real-world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51C52-3B5F-6A40-C283-D32AE075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454A60-7D58-2A1E-B558-ED5575403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15DB65-F3D2-79AF-7297-BA8E3EE16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94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774E5-B0B2-C224-05D8-2A266DD6A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72" y="203397"/>
            <a:ext cx="12192000" cy="989965"/>
          </a:xfrm>
        </p:spPr>
        <p:txBody>
          <a:bodyPr>
            <a:noAutofit/>
          </a:bodyPr>
          <a:lstStyle/>
          <a:p>
            <a:pPr algn="ctr"/>
            <a:r>
              <a:rPr lang="en-US" sz="3500" b="1" dirty="0"/>
              <a:t>Literature Survey</a:t>
            </a:r>
            <a:endParaRPr lang="en-US" sz="3500" dirty="0"/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16F948A-D028-E68C-5087-3DDDA5C14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72" y="67352"/>
            <a:ext cx="2621280" cy="8077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AD865D-F3A1-F10C-22C1-B303F6144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252459"/>
              </p:ext>
            </p:extLst>
          </p:nvPr>
        </p:nvGraphicFramePr>
        <p:xfrm>
          <a:off x="585338" y="1193362"/>
          <a:ext cx="10933371" cy="521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4457">
                  <a:extLst>
                    <a:ext uri="{9D8B030D-6E8A-4147-A177-3AD203B41FA5}">
                      <a16:colId xmlns:a16="http://schemas.microsoft.com/office/drawing/2014/main" val="3279298193"/>
                    </a:ext>
                  </a:extLst>
                </a:gridCol>
                <a:gridCol w="3644457">
                  <a:extLst>
                    <a:ext uri="{9D8B030D-6E8A-4147-A177-3AD203B41FA5}">
                      <a16:colId xmlns:a16="http://schemas.microsoft.com/office/drawing/2014/main" val="1305712375"/>
                    </a:ext>
                  </a:extLst>
                </a:gridCol>
                <a:gridCol w="3644457">
                  <a:extLst>
                    <a:ext uri="{9D8B030D-6E8A-4147-A177-3AD203B41FA5}">
                      <a16:colId xmlns:a16="http://schemas.microsoft.com/office/drawing/2014/main" val="65828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Overview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Findings of the Study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849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Sethuraman et al. (2020)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Developed </a:t>
                      </a:r>
                      <a:r>
                        <a:rPr lang="en-US" sz="1600" i="1" dirty="0" err="1"/>
                        <a:t>MyWear</a:t>
                      </a:r>
                      <a:r>
                        <a:rPr lang="en-US" sz="1600" dirty="0"/>
                        <a:t>, a smart wearable system that continuously monitors vital signs like heart rate and SpO₂ and sends emergency alerts through IoT.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Proved that real-time health tracking and automatic alerts can reduce emergency response time and improve patient safety.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28659"/>
                  </a:ext>
                </a:extLst>
              </a:tr>
              <a:tr h="606003">
                <a:tc>
                  <a:txBody>
                    <a:bodyPr/>
                    <a:lstStyle/>
                    <a:p>
                      <a:r>
                        <a:rPr lang="en-US" sz="1600" dirty="0"/>
                        <a:t>Sharma &amp; Kumar (2021)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Proposed an IoT-based anomaly detection model for elderly health monitoring using AI algorithms.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Demonstrated that combining AI and IoT improves the accuracy of health alerts and reduces false alarms.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904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Gupta &amp; Singh (2024)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Designed an IoT-based patient monitoring system using multi-parameter sensors and GSM module.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Showed that GSM-based alert systems enhance hospital efficiency and ensure timely communication during emergencies.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2969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Zhang et al. (2019)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Created a wearable real-time heart attack detection and warning system using continuous ECG signal analysis.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Proved that continuous monitoring and instant alerts can significantly reduce cardiac-related deaths.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6989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Ahmad et al. (2022)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Implemented an IoT-enabled healthcare monitoring system using ESP32 and GSM for real-time data transmission.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Demonstrated a cost-effective and energy-efficient design suitable for hospitals and remote healthcare applications.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01607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9A1AD-B333-53AB-F716-DCADE2B4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FF3F9-54DB-4708-DFC2-DC7F0C6B2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362724-70B2-3B11-B292-3856A92E48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75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15C2-32D4-D227-2668-54E2944D8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1874"/>
            <a:ext cx="12192000" cy="989964"/>
          </a:xfrm>
        </p:spPr>
        <p:txBody>
          <a:bodyPr>
            <a:noAutofit/>
          </a:bodyPr>
          <a:lstStyle/>
          <a:p>
            <a:pPr algn="ctr"/>
            <a:r>
              <a:rPr lang="en-US" sz="3500" b="1" dirty="0"/>
              <a:t>Methodology</a:t>
            </a:r>
            <a:endParaRPr lang="en-US" sz="3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3509A-9090-B731-3E48-27E33EADE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ADA34F-14C7-648D-D86C-7E3803E417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17" y="1690688"/>
            <a:ext cx="10654454" cy="4566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5E96B4-EA7C-4611-BA2B-1E0BE76CC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89FDB6-4BB0-A16C-D23F-31F89A32E6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086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98CDF7-3185-E22A-CD1B-20E4E1E70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23E4F0A-3BB6-69B3-160B-41226679D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72" y="67352"/>
            <a:ext cx="2621280" cy="8077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0F6AA0E-3751-2BE5-72DC-BF24FA55B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169217"/>
              </p:ext>
            </p:extLst>
          </p:nvPr>
        </p:nvGraphicFramePr>
        <p:xfrm>
          <a:off x="872067" y="1233132"/>
          <a:ext cx="10236200" cy="4862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41592">
                  <a:extLst>
                    <a:ext uri="{9D8B030D-6E8A-4147-A177-3AD203B41FA5}">
                      <a16:colId xmlns:a16="http://schemas.microsoft.com/office/drawing/2014/main" val="240672698"/>
                    </a:ext>
                  </a:extLst>
                </a:gridCol>
                <a:gridCol w="1235849">
                  <a:extLst>
                    <a:ext uri="{9D8B030D-6E8A-4147-A177-3AD203B41FA5}">
                      <a16:colId xmlns:a16="http://schemas.microsoft.com/office/drawing/2014/main" val="213606883"/>
                    </a:ext>
                  </a:extLst>
                </a:gridCol>
                <a:gridCol w="1360143">
                  <a:extLst>
                    <a:ext uri="{9D8B030D-6E8A-4147-A177-3AD203B41FA5}">
                      <a16:colId xmlns:a16="http://schemas.microsoft.com/office/drawing/2014/main" val="726670812"/>
                    </a:ext>
                  </a:extLst>
                </a:gridCol>
                <a:gridCol w="1498616">
                  <a:extLst>
                    <a:ext uri="{9D8B030D-6E8A-4147-A177-3AD203B41FA5}">
                      <a16:colId xmlns:a16="http://schemas.microsoft.com/office/drawing/2014/main" val="1564070024"/>
                    </a:ext>
                  </a:extLst>
                </a:gridCol>
              </a:tblGrid>
              <a:tr h="432208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Time Duration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246610"/>
                  </a:ext>
                </a:extLst>
              </a:tr>
              <a:tr h="62346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Nov-26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Dec-26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Jan-26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87600"/>
                  </a:ext>
                </a:extLst>
              </a:tr>
              <a:tr h="425584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Problem Definition &amp; Requirement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6699645"/>
                  </a:ext>
                </a:extLst>
              </a:tr>
              <a:tr h="54792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Literature Survey &amp; Reference Study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65233"/>
                  </a:ext>
                </a:extLst>
              </a:tr>
              <a:tr h="54792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System Design &amp; Architecture Planning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467601"/>
                  </a:ext>
                </a:extLst>
              </a:tr>
              <a:tr h="54792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Hardware Components Selection &amp; Assembly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761549"/>
                  </a:ext>
                </a:extLst>
              </a:tr>
              <a:tr h="556910">
                <a:tc>
                  <a:txBody>
                    <a:bodyPr/>
                    <a:lstStyle/>
                    <a:p>
                      <a:r>
                        <a:rPr lang="en-US" sz="2000" dirty="0"/>
                        <a:t>Sensor Interfacing with ESP32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864261"/>
                  </a:ext>
                </a:extLst>
              </a:tr>
              <a:tr h="556910">
                <a:tc>
                  <a:txBody>
                    <a:bodyPr/>
                    <a:lstStyle/>
                    <a:p>
                      <a:r>
                        <a:rPr lang="en-US" sz="2000" dirty="0"/>
                        <a:t>Real-Time Data Acquisition &amp; Testing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472953"/>
                  </a:ext>
                </a:extLst>
              </a:tr>
              <a:tr h="623460">
                <a:tc>
                  <a:txBody>
                    <a:bodyPr/>
                    <a:lstStyle/>
                    <a:p>
                      <a:r>
                        <a:rPr lang="en-US" sz="2000" dirty="0"/>
                        <a:t>Firebase Database &amp; Web Dashboard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0095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CA24EC59-2A50-510A-3188-0A88DDC35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9E644D-B9AA-46B0-18C6-935A108A2D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737BE8E-A832-96D3-EDE9-3407370C5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95" y="380089"/>
            <a:ext cx="12192000" cy="989965"/>
          </a:xfrm>
        </p:spPr>
        <p:txBody>
          <a:bodyPr>
            <a:noAutofit/>
          </a:bodyPr>
          <a:lstStyle/>
          <a:p>
            <a:pPr algn="ctr"/>
            <a:r>
              <a:rPr lang="en-IN" sz="3500" b="1" dirty="0">
                <a:solidFill>
                  <a:prstClr val="black"/>
                </a:solidFill>
              </a:rPr>
              <a:t>Work Timeline(Completed)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240121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F6393B-25A4-00F6-027E-FDD59A655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014416"/>
              </p:ext>
            </p:extLst>
          </p:nvPr>
        </p:nvGraphicFramePr>
        <p:xfrm>
          <a:off x="1094474" y="1207953"/>
          <a:ext cx="9880600" cy="49671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7261">
                  <a:extLst>
                    <a:ext uri="{9D8B030D-6E8A-4147-A177-3AD203B41FA5}">
                      <a16:colId xmlns:a16="http://schemas.microsoft.com/office/drawing/2014/main" val="240672698"/>
                    </a:ext>
                  </a:extLst>
                </a:gridCol>
                <a:gridCol w="1364606">
                  <a:extLst>
                    <a:ext uri="{9D8B030D-6E8A-4147-A177-3AD203B41FA5}">
                      <a16:colId xmlns:a16="http://schemas.microsoft.com/office/drawing/2014/main" val="213606883"/>
                    </a:ext>
                  </a:extLst>
                </a:gridCol>
                <a:gridCol w="1583267">
                  <a:extLst>
                    <a:ext uri="{9D8B030D-6E8A-4147-A177-3AD203B41FA5}">
                      <a16:colId xmlns:a16="http://schemas.microsoft.com/office/drawing/2014/main" val="726670812"/>
                    </a:ext>
                  </a:extLst>
                </a:gridCol>
                <a:gridCol w="1405466">
                  <a:extLst>
                    <a:ext uri="{9D8B030D-6E8A-4147-A177-3AD203B41FA5}">
                      <a16:colId xmlns:a16="http://schemas.microsoft.com/office/drawing/2014/main" val="1564070024"/>
                    </a:ext>
                  </a:extLst>
                </a:gridCol>
              </a:tblGrid>
              <a:tr h="575747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Time Duration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246610"/>
                  </a:ext>
                </a:extLst>
              </a:tr>
              <a:tr h="74186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Feb-26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Mar-26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Apr-26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87600"/>
                  </a:ext>
                </a:extLst>
              </a:tr>
              <a:tr h="72990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Backend &amp; cloud Integration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6699645"/>
                  </a:ext>
                </a:extLst>
              </a:tr>
              <a:tr h="72990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GSM(SIM800L) Integration &amp; Alert Logic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761549"/>
                  </a:ext>
                </a:extLst>
              </a:tr>
              <a:tr h="729900">
                <a:tc>
                  <a:txBody>
                    <a:bodyPr/>
                    <a:lstStyle/>
                    <a:p>
                      <a:r>
                        <a:rPr lang="en-US" sz="2000" dirty="0"/>
                        <a:t>System Integration &amp; Functional 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200723"/>
                  </a:ext>
                </a:extLst>
              </a:tr>
              <a:tr h="729900">
                <a:tc>
                  <a:txBody>
                    <a:bodyPr/>
                    <a:lstStyle/>
                    <a:p>
                      <a:r>
                        <a:rPr lang="en-US" sz="2000" dirty="0"/>
                        <a:t>3D Modelling &amp; Hardware Enclosure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458169"/>
                  </a:ext>
                </a:extLst>
              </a:tr>
              <a:tr h="729900">
                <a:tc>
                  <a:txBody>
                    <a:bodyPr/>
                    <a:lstStyle/>
                    <a:p>
                      <a:r>
                        <a:rPr lang="en-US" sz="2000" dirty="0"/>
                        <a:t>Final testing , Validation &amp; implementation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33408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EBB076-5E4F-EAD7-B864-9B6111E0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CB4C79-5932-EC1A-9F90-EF3FD980C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35D575-EAE3-5551-BCEA-4DAE2D319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692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AE5A2-7BB1-D9E3-1598-D24EBE0FA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39252" y="989965"/>
            <a:ext cx="12493052" cy="989964"/>
          </a:xfrm>
        </p:spPr>
        <p:txBody>
          <a:bodyPr>
            <a:noAutofit/>
          </a:bodyPr>
          <a:lstStyle/>
          <a:p>
            <a:pPr algn="ctr"/>
            <a:r>
              <a:rPr lang="en-US" sz="3500" b="1" dirty="0"/>
              <a:t>				   Facilities (software and hardware) </a:t>
            </a:r>
            <a:br>
              <a:rPr lang="en-US" sz="3500" b="1" dirty="0"/>
            </a:br>
            <a:r>
              <a:rPr lang="en-US" sz="3500" b="1" dirty="0"/>
              <a:t>				</a:t>
            </a:r>
            <a:endParaRPr lang="en-US" sz="3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47706-9C61-5401-3215-3B43903DBEAD}"/>
              </a:ext>
            </a:extLst>
          </p:cNvPr>
          <p:cNvSpPr txBox="1"/>
          <p:nvPr/>
        </p:nvSpPr>
        <p:spPr>
          <a:xfrm>
            <a:off x="404883" y="1682792"/>
            <a:ext cx="11382233" cy="4524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dirty="0"/>
              <a:t>Hardware Components: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ESP32 microcontroller-main control and processing unit.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MAX30102-measures heart rate and oxygen level (SpO₂).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DS18B20-monitors body temperature.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GSM(SIM800L )-enables wireless alerts. Breadboard, jumper wires, and power supply for circuit setup. Compact casing for portable and safe hospital use.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/>
              <a:t>Software Requirements: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Arduino IDE-for programming and sensor integration.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HTML,CSS and JAVASCRIPT- Used to design and build the front-end of the website.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Node.js,PHP-used as the backend to connect hardware data with web.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MongoDB- a database to store and manage patient health records securely.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09930-0EB8-07E8-E3D6-8693E288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EB7DFD-32A8-C079-2CDC-7D6EB1007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C3BDFD-FF21-54E0-269A-222B331C6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2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64BF2-670E-0F41-B5F8-8038699A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5639"/>
            <a:ext cx="12192000" cy="894179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/>
              <a:t> Outcomes</a:t>
            </a:r>
            <a:endParaRPr lang="en-US" sz="3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8A86E-567B-E941-0DEE-943460A7990A}"/>
              </a:ext>
            </a:extLst>
          </p:cNvPr>
          <p:cNvSpPr txBox="1"/>
          <p:nvPr/>
        </p:nvSpPr>
        <p:spPr>
          <a:xfrm>
            <a:off x="728449" y="1414230"/>
            <a:ext cx="107351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A working wireless prototype for continuous monitoring of heart rate, SpO₂, and temperature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Real-time display of patient data on a monitoring dashboard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Instant SMS alerts sent to doctors or family member during abnormal conditions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Low-cost and efficient system compared to traditional monitoring equipment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Portable and battery-powered design suitable for long-term use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Supports monitoring of multiple patients with scalable design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Improves patient safety and enables faster medical response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8B5F7-0096-5DFA-290D-F8EA28F64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7F08D-EA8A-5428-150F-86222506F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6BBDD-3AB3-F423-C80E-38A9007ED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536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EB7E3-E119-A751-D2E1-6D2C9C65D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0649"/>
            <a:ext cx="12192000" cy="989966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/>
              <a:t>Applications</a:t>
            </a:r>
            <a:endParaRPr lang="en-US" sz="3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81781-2BF6-B018-7947-70FDF28FD839}"/>
              </a:ext>
            </a:extLst>
          </p:cNvPr>
          <p:cNvSpPr txBox="1"/>
          <p:nvPr/>
        </p:nvSpPr>
        <p:spPr>
          <a:xfrm>
            <a:off x="382137" y="1690688"/>
            <a:ext cx="113822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/>
              <a:t>Hospital Wards &amp; ICUs:</a:t>
            </a:r>
            <a:r>
              <a:rPr lang="en-US" sz="2400" dirty="0"/>
              <a:t> Continuous wireless monitoring of patients’ vital signs.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/>
              <a:t>Post-Surgery Care: </a:t>
            </a:r>
            <a:r>
              <a:rPr lang="en-US" sz="2400" dirty="0"/>
              <a:t>Tracks recovery and helps doctors respond quickly to any health changes.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/>
              <a:t>Emergency Rooms &amp; Ambulances: </a:t>
            </a:r>
            <a:r>
              <a:rPr lang="en-US" sz="2400" dirty="0"/>
              <a:t>Enables real-time data transmission during patient transport.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/>
              <a:t>Rural &amp; Small Clinics: </a:t>
            </a:r>
            <a:r>
              <a:rPr lang="en-US" sz="2400" dirty="0"/>
              <a:t>Provides affordable monitoring where advanced medical equipment is unavailable.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/>
              <a:t>Smart Hospital Systems: </a:t>
            </a:r>
            <a:r>
              <a:rPr lang="en-US" sz="2400" dirty="0"/>
              <a:t>Supports digital transformation by integrating IoT and AI into hospital networks.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BC471-B9A8-DE07-8316-D74898EF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0393E-5607-F9C6-5FA1-715F368F4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3904A2-F7F9-07D0-3B66-869D66B4E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3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7C495-CFFE-ACA6-B1E9-7704108A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14" y="425593"/>
            <a:ext cx="12192000" cy="989965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/>
              <a:t>Objectives Achieved</a:t>
            </a:r>
            <a:endParaRPr lang="en-US" sz="35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6C22C-7A3D-88EB-456A-5D492051D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13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C98A1A-0C6B-1494-418F-D30CCDA6E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522690"/>
              </p:ext>
            </p:extLst>
          </p:nvPr>
        </p:nvGraphicFramePr>
        <p:xfrm>
          <a:off x="1019628" y="1197364"/>
          <a:ext cx="1033417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543">
                  <a:extLst>
                    <a:ext uri="{9D8B030D-6E8A-4147-A177-3AD203B41FA5}">
                      <a16:colId xmlns:a16="http://schemas.microsoft.com/office/drawing/2014/main" val="2055930534"/>
                    </a:ext>
                  </a:extLst>
                </a:gridCol>
                <a:gridCol w="2583543">
                  <a:extLst>
                    <a:ext uri="{9D8B030D-6E8A-4147-A177-3AD203B41FA5}">
                      <a16:colId xmlns:a16="http://schemas.microsoft.com/office/drawing/2014/main" val="3776042246"/>
                    </a:ext>
                  </a:extLst>
                </a:gridCol>
                <a:gridCol w="2583543">
                  <a:extLst>
                    <a:ext uri="{9D8B030D-6E8A-4147-A177-3AD203B41FA5}">
                      <a16:colId xmlns:a16="http://schemas.microsoft.com/office/drawing/2014/main" val="1871074266"/>
                    </a:ext>
                  </a:extLst>
                </a:gridCol>
                <a:gridCol w="2583543">
                  <a:extLst>
                    <a:ext uri="{9D8B030D-6E8A-4147-A177-3AD203B41FA5}">
                      <a16:colId xmlns:a16="http://schemas.microsoft.com/office/drawing/2014/main" val="3761352359"/>
                    </a:ext>
                  </a:extLst>
                </a:gridCol>
              </a:tblGrid>
              <a:tr h="591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Module / Task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Initially Planned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Current Status (Completed / In Progress)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Next Steps (Upcoming Work)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7962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Title &amp; Objectives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Define problem and 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Project title finalized and objectives clearly defined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 change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487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Literature Survey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Review existing healthcare IoT systems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Literature survey completed and references finalized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 change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3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Component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Select suitable hardware modules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ESP32, heart rate sensor, temperature sensor, GSM (SIM800L) selected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 change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35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Sensor Interfacing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Interface sensors with controller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Heart rate &amp; temperature sensors successfully interfaced with ESP32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 change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38011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C971563-017A-E855-E978-4DEE6926A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51F6E7-C66D-202B-0A81-BDFED2588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34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DC7E61-53B7-FBD2-AA10-AFF78CA6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9CAB1-EBBD-8F2D-5899-0DC836ED0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366240"/>
              </p:ext>
            </p:extLst>
          </p:nvPr>
        </p:nvGraphicFramePr>
        <p:xfrm>
          <a:off x="630199" y="736597"/>
          <a:ext cx="10486536" cy="4831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634">
                  <a:extLst>
                    <a:ext uri="{9D8B030D-6E8A-4147-A177-3AD203B41FA5}">
                      <a16:colId xmlns:a16="http://schemas.microsoft.com/office/drawing/2014/main" val="2989382240"/>
                    </a:ext>
                  </a:extLst>
                </a:gridCol>
                <a:gridCol w="2621634">
                  <a:extLst>
                    <a:ext uri="{9D8B030D-6E8A-4147-A177-3AD203B41FA5}">
                      <a16:colId xmlns:a16="http://schemas.microsoft.com/office/drawing/2014/main" val="2298105256"/>
                    </a:ext>
                  </a:extLst>
                </a:gridCol>
                <a:gridCol w="2621634">
                  <a:extLst>
                    <a:ext uri="{9D8B030D-6E8A-4147-A177-3AD203B41FA5}">
                      <a16:colId xmlns:a16="http://schemas.microsoft.com/office/drawing/2014/main" val="320955259"/>
                    </a:ext>
                  </a:extLst>
                </a:gridCol>
                <a:gridCol w="2621634">
                  <a:extLst>
                    <a:ext uri="{9D8B030D-6E8A-4147-A177-3AD203B41FA5}">
                      <a16:colId xmlns:a16="http://schemas.microsoft.com/office/drawing/2014/main" val="2869148928"/>
                    </a:ext>
                  </a:extLst>
                </a:gridCol>
              </a:tblGrid>
              <a:tr h="9073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Module / Task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Initially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Current Status (Completed / In Progress)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Next Steps (Upcoming Work)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3135976"/>
                  </a:ext>
                </a:extLst>
              </a:tr>
              <a:tr h="1058544">
                <a:tc>
                  <a:txBody>
                    <a:bodyPr/>
                    <a:lstStyle/>
                    <a:p>
                      <a:r>
                        <a:rPr lang="en-IN" b="0" dirty="0"/>
                        <a:t>Data Acquisition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Read sensor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 Real-time data obtained and verified on Serial Monitor</a:t>
                      </a:r>
                      <a:endParaRPr lang="en-IN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Stable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488752"/>
                  </a:ext>
                </a:extLst>
              </a:tr>
              <a:tr h="1058544">
                <a:tc>
                  <a:txBody>
                    <a:bodyPr/>
                    <a:lstStyle/>
                    <a:p>
                      <a:r>
                        <a:rPr lang="en-IN" dirty="0"/>
                        <a:t>Cloud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Send data to cloud 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MQTT used for real-time data transmission to dashboard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Working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3990740"/>
                  </a:ext>
                </a:extLst>
              </a:tr>
              <a:tr h="1058544">
                <a:tc>
                  <a:txBody>
                    <a:bodyPr/>
                    <a:lstStyle/>
                    <a:p>
                      <a:r>
                        <a:rPr lang="en-IN" dirty="0"/>
                        <a:t>Web Frontend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Design monitoring dashboard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Frontend website developed (HTML, CSS, JS)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6204138"/>
                  </a:ext>
                </a:extLst>
              </a:tr>
              <a:tr h="740980">
                <a:tc>
                  <a:txBody>
                    <a:bodyPr/>
                    <a:lstStyle/>
                    <a:p>
                      <a:r>
                        <a:rPr lang="en-IN" dirty="0"/>
                        <a:t>Backend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Connect cloud to website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 integration in progress completed 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Connection are done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762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587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2DB6CD-C59A-A05E-BAF7-262BCC8CD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9E69E7-1C10-EACE-5F28-7640B194A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193720"/>
              </p:ext>
            </p:extLst>
          </p:nvPr>
        </p:nvGraphicFramePr>
        <p:xfrm>
          <a:off x="770466" y="677334"/>
          <a:ext cx="10473268" cy="5530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8317">
                  <a:extLst>
                    <a:ext uri="{9D8B030D-6E8A-4147-A177-3AD203B41FA5}">
                      <a16:colId xmlns:a16="http://schemas.microsoft.com/office/drawing/2014/main" val="2769189445"/>
                    </a:ext>
                  </a:extLst>
                </a:gridCol>
                <a:gridCol w="2618317">
                  <a:extLst>
                    <a:ext uri="{9D8B030D-6E8A-4147-A177-3AD203B41FA5}">
                      <a16:colId xmlns:a16="http://schemas.microsoft.com/office/drawing/2014/main" val="3605040642"/>
                    </a:ext>
                  </a:extLst>
                </a:gridCol>
                <a:gridCol w="2618317">
                  <a:extLst>
                    <a:ext uri="{9D8B030D-6E8A-4147-A177-3AD203B41FA5}">
                      <a16:colId xmlns:a16="http://schemas.microsoft.com/office/drawing/2014/main" val="192110380"/>
                    </a:ext>
                  </a:extLst>
                </a:gridCol>
                <a:gridCol w="2618317">
                  <a:extLst>
                    <a:ext uri="{9D8B030D-6E8A-4147-A177-3AD203B41FA5}">
                      <a16:colId xmlns:a16="http://schemas.microsoft.com/office/drawing/2014/main" val="998490792"/>
                    </a:ext>
                  </a:extLst>
                </a:gridCol>
              </a:tblGrid>
              <a:tr h="10058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Module / Task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Initially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Current Status (Completed / In Progress)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Next Steps (Upcoming Work)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290159"/>
                  </a:ext>
                </a:extLst>
              </a:tr>
              <a:tr h="100583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GSM Alert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Emergency SMS alerts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SIM800L integrated and SMS alerts working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Reliable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2684274"/>
                  </a:ext>
                </a:extLst>
              </a:tr>
              <a:tr h="100583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AI / Data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Detect abnormal readings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 chatbot integrated for user queries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Working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262114"/>
                  </a:ext>
                </a:extLst>
              </a:tr>
              <a:tr h="68467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System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Combine all modules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Hardware, sensors, ESP32, MQTT, and GSM integrated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0967929"/>
                  </a:ext>
                </a:extLst>
              </a:tr>
              <a:tr h="68467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Testing &amp;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Validate system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Module-level and system testing completed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Verified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260289"/>
                  </a:ext>
                </a:extLst>
              </a:tr>
              <a:tr h="68467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Final Prototype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Complete working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Prototype assembled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Ready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488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257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5E53-52C1-DF1C-C1F8-FE4467F98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14598" y="586120"/>
            <a:ext cx="12192000" cy="989965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/>
              <a:t>		Current Hardware Prototype</a:t>
            </a:r>
            <a:endParaRPr lang="en-IN" sz="35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D38B25-BDE2-20B5-F130-F777DD870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0F580B-640E-F8DC-EA5D-F2DBA94E1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751" y="1376355"/>
            <a:ext cx="6592315" cy="479772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5C06A7-9596-29B2-8B71-9B85AD96C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B74C67-09DC-3888-6DEA-1B5772F75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51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5FD7-9270-5A8E-50EC-2D5D30B49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8200" y="1037416"/>
            <a:ext cx="12192000" cy="989965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/>
              <a:t>				Current Hardware Prototype(Continued)</a:t>
            </a:r>
            <a:endParaRPr lang="en-US" sz="35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35AE04-4D3F-44B5-3303-5E1114DB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73B9FF-D621-C6D1-7521-AE1C6F3609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69" b="7280"/>
          <a:stretch>
            <a:fillRect/>
          </a:stretch>
        </p:blipFill>
        <p:spPr bwMode="auto">
          <a:xfrm>
            <a:off x="6874778" y="2529205"/>
            <a:ext cx="5029198" cy="26035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8A89D5-372C-86D4-F1A0-905953673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27" y="1879764"/>
            <a:ext cx="6181880" cy="40298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CFF211-652D-310C-34EF-09FDD2AEE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72A3CA-FCD7-568F-8C51-FC4F88DFFD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46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9B3D78-BDAB-9F7A-B11F-BCE6AF39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304A9E-97A3-9A59-E2F7-FFDEBCCD50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3"/>
          <a:stretch>
            <a:fillRect/>
          </a:stretch>
        </p:blipFill>
        <p:spPr bwMode="auto">
          <a:xfrm>
            <a:off x="235583" y="1462963"/>
            <a:ext cx="4016991" cy="207147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538247-5A9A-5651-6D64-F758473EA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574" y="1482192"/>
            <a:ext cx="3841752" cy="2066497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CF7F94-EA1B-48E6-222A-C36B11A87B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4326" y="1523412"/>
            <a:ext cx="3936308" cy="2011027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82235E-C78E-E554-5251-FEA1DC0EBA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66" y="3518459"/>
            <a:ext cx="3447415" cy="3192780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5F2657-DF09-1964-FB4A-E1A3D66D2D8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778" y="3507415"/>
            <a:ext cx="2679065" cy="319151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E66683-5D91-7DCB-97AF-109C36DE76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4326" y="3567918"/>
            <a:ext cx="3340735" cy="2828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3A7CF4-C0CC-0C33-3439-213378DF3B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8F32C9-E5A8-006D-A123-19CCD748A3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09D337A-D402-85BD-5900-5F1F3A4C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8200" y="742065"/>
            <a:ext cx="12192000" cy="989965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/>
              <a:t>				Current Hardware Prototype(Continued)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17777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5B1E1-53F3-2463-75FB-72602C6C6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5920"/>
            <a:ext cx="12192000" cy="1009896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/>
              <a:t>References</a:t>
            </a:r>
            <a:endParaRPr lang="en-US" sz="3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7E32D-D928-380B-B845-33634306960D}"/>
              </a:ext>
            </a:extLst>
          </p:cNvPr>
          <p:cNvSpPr txBox="1"/>
          <p:nvPr/>
        </p:nvSpPr>
        <p:spPr>
          <a:xfrm>
            <a:off x="404883" y="1690688"/>
            <a:ext cx="1138223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Sethuraman, S. C.,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Kompally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P., Mohanty, S. P., &amp;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Choppali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U. (2020).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MyWear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A smart wear for continuous body vital monitoring and emergency alert.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arXiv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preprint arXiv:2010.08866.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2"/>
              </a:rPr>
              <a:t>https://arxiv.org/abs/2010.08866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Naveena, A., Dokka, S. A., &amp;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Nadupalli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A. (2023). IoT-based patient healthcare monitoring system. International Journal for Research in Applied Science and Engineering Technology (IJRASET), 11(4).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https://doi.org/10.22214/ijraset.2023.54653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Abdulmalek, S.,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Alkhawli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M., &amp; Alghamdi, A. (2022). IoT-based healthcare-monitoring system: Implementation and review. International Journal of Advanced Computer Science and Applications (IJACSA), 13(5), 122–130.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4"/>
              </a:rPr>
              <a:t>https://doi.org/10.14569/IJACSA.2022.0130515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Wulandari, B., &amp; Jati, M. P. (2023). Design and implementation of real-time health vital sign monitoring device with wireless sensor-based on Arduino Mega.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Elinvo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(Electronics, Informatics, and Vocational Education), 6(1), 13–22.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5"/>
              </a:rPr>
              <a:t>https://doi.org/10.21831/elinvo.v6i1.43799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Mnaathr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I. S., Khalifa, O. O., &amp; Jabbar, W. A. (2023). Design remote monitoring system for patients at real-time based on Internet of Things (IoT). International Journal of Engineering and Manufacturing (IJEM), 13(5), 1–12.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6"/>
              </a:rPr>
              <a:t>https://www.mecs-press.org/ijem/ijem-v13-n5/v13n5-1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BB72A-0C4B-6810-D17B-18CF44E6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5ABB40-38E1-1D92-2F04-3B109E528E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FB3558-A60B-C6FD-A98F-502B40EF6A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04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FAD0-5CF4-1A61-DF44-168EE8A56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912" y="796251"/>
            <a:ext cx="12192000" cy="989965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/>
              <a:t>Publication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82AB-54D3-CC77-A953-DB1037650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Status of Paper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Chirag Sindhe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Kanchepalli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Niranjan 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Venugopal Reddy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Vijay Kumar G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Amrita Singh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</a:t>
            </a:r>
            <a:r>
              <a:rPr lang="en-I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Wearable Device for Real Time Health Monitoring and SMS Emergency Alerts”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(communicated: “Design Automation for Embedded”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Ref: Submission ID f6c593a4-c5b4-4936-b77f-973a4c54c062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BEEB0-6BA1-830C-A43C-5C18D85E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BD962-AB7C-AB02-1667-8106F33CD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BEC045-6A90-A216-361C-B225F2768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931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35FE1-27F7-4BA5-862B-5187AEF3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29193" y="679356"/>
            <a:ext cx="12191999" cy="989965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/>
              <a:t>				Participation in </a:t>
            </a:r>
            <a:r>
              <a:rPr lang="en-IN" sz="3500" b="1" dirty="0" err="1"/>
              <a:t>Seedbrains</a:t>
            </a:r>
            <a:r>
              <a:rPr lang="en-IN" sz="3500" b="1" dirty="0"/>
              <a:t> 5.0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17B39E-27F6-4E7D-BE3B-587BAA97DC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0101" y="1549499"/>
            <a:ext cx="3075852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D0AB0-AA63-C1CA-FC9C-3EF24DF2E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8E995-13B4-E8E0-0F9D-45E3F7F8F1D9}"/>
              </a:ext>
            </a:extLst>
          </p:cNvPr>
          <p:cNvSpPr txBox="1"/>
          <p:nvPr/>
        </p:nvSpPr>
        <p:spPr>
          <a:xfrm>
            <a:off x="326046" y="1549499"/>
            <a:ext cx="82845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actively applied and participating in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Seedbrains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national-level innovation and startup platform organized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Cambridge Institute of Technology in collaboration with Cambrian Incubation Center and CHOSS (Cambridge House of Student Startup)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Our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real-world problem identification and practical implementation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scalability and future deployment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Encouraged alignment with industry needs and SDGs (Sustainable Development Goals)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team collaboration, idea validation, and presentation skills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Helped in developing a startup-oriented mindset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067381-666E-8B34-7032-F4A901497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0"/>
            <a:ext cx="975445" cy="920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742EF9-80F8-3C87-C24A-74C261B11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220" cy="9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90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010AB-23BB-695E-BAC2-9B7F747D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4A5E-28FD-4666-B5FF-6E08C0562804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94E36-14DC-1FB3-E4BC-FB0F0D8409BB}"/>
              </a:ext>
            </a:extLst>
          </p:cNvPr>
          <p:cNvSpPr txBox="1"/>
          <p:nvPr/>
        </p:nvSpPr>
        <p:spPr>
          <a:xfrm>
            <a:off x="4371746" y="2505670"/>
            <a:ext cx="34485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33614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3782</TotalTime>
  <Words>1717</Words>
  <Application>Microsoft Office PowerPoint</Application>
  <PresentationFormat>Widescreen</PresentationFormat>
  <Paragraphs>221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Times New Roman</vt:lpstr>
      <vt:lpstr>Office Theme</vt:lpstr>
      <vt:lpstr>Department of Electronics and Communication Engineering Capstone Project on AI-Powered Smart Healthcare Monitoring and Emergency Response  System using Embedded System   </vt:lpstr>
      <vt:lpstr>Contents</vt:lpstr>
      <vt:lpstr>Introduction</vt:lpstr>
      <vt:lpstr>Motivation</vt:lpstr>
      <vt:lpstr>Problem statement </vt:lpstr>
      <vt:lpstr>Objectives</vt:lpstr>
      <vt:lpstr>Literature Survey</vt:lpstr>
      <vt:lpstr>Methodology</vt:lpstr>
      <vt:lpstr>Work Timeline(Completed) </vt:lpstr>
      <vt:lpstr>PowerPoint Presentation</vt:lpstr>
      <vt:lpstr>       Facilities (software and hardware)      </vt:lpstr>
      <vt:lpstr> Outcomes</vt:lpstr>
      <vt:lpstr>Applications</vt:lpstr>
      <vt:lpstr>Objectives Achieved</vt:lpstr>
      <vt:lpstr>PowerPoint Presentation</vt:lpstr>
      <vt:lpstr>PowerPoint Presentation</vt:lpstr>
      <vt:lpstr>  Current Hardware Prototype</vt:lpstr>
      <vt:lpstr>    Current Hardware Prototype(Continued)</vt:lpstr>
      <vt:lpstr>    Current Hardware Prototype(Continued)</vt:lpstr>
      <vt:lpstr>References</vt:lpstr>
      <vt:lpstr>Publication</vt:lpstr>
      <vt:lpstr>    Participation in Seedbrains 5.0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Brijesh Mishra</dc:creator>
  <cp:lastModifiedBy>Anusha S</cp:lastModifiedBy>
  <cp:revision>28</cp:revision>
  <dcterms:created xsi:type="dcterms:W3CDTF">2025-10-17T10:09:58Z</dcterms:created>
  <dcterms:modified xsi:type="dcterms:W3CDTF">2026-05-14T12:30:19Z</dcterms:modified>
</cp:coreProperties>
</file>